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notesMasterIdLst>
    <p:notesMasterId r:id="rId4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31520"/>
            <a:ext cx="109728" cy="4937760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" y="10058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8DE1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ATOS · ORION · RECETTE ASSISTEE PAR IA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5840" y="1554480"/>
            <a:ext cx="10058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Bilan de recette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Sprints 11, 12 et 13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005840" y="3429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D8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INT2 · 252 cas de test · 29 tickets ORI · 206 règles RG · preuves vidéo MP4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52120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2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Généré le 30/07/2026 13:22:46 · Exécution Playwright headed, données réelles par ticket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Bilan de recette Orion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SYNTHÈSE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Résultats consolidés de l'exécution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Fusion des 3 rapports : Playwright (exécution) · Xray (références) · Hybride (concordance Excel).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2148840" cy="1051560"/>
          </a:xfrm>
          <a:prstGeom prst="roundRect">
            <a:avLst>
              <a:gd name="adj" fmla="val 695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93852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46BC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252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24871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 exécutés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88920" y="1828800"/>
            <a:ext cx="2148840" cy="1051560"/>
          </a:xfrm>
          <a:prstGeom prst="roundRect">
            <a:avLst>
              <a:gd name="adj" fmla="val 695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80360" y="193852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9D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880360" y="24871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Passés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0" y="1828800"/>
            <a:ext cx="2148840" cy="1051560"/>
          </a:xfrm>
          <a:prstGeom prst="roundRect">
            <a:avLst>
              <a:gd name="adj" fmla="val 695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0" y="193852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9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98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120640" y="24871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Bloqués flux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269480" y="1828800"/>
            <a:ext cx="2148840" cy="1051560"/>
          </a:xfrm>
          <a:prstGeom prst="roundRect">
            <a:avLst>
              <a:gd name="adj" fmla="val 695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60920" y="193852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575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360920" y="24871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Bloqués données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509760" y="1828800"/>
            <a:ext cx="2148840" cy="1051560"/>
          </a:xfrm>
          <a:prstGeom prst="roundRect">
            <a:avLst>
              <a:gd name="adj" fmla="val 695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0" y="193852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53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215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9601200" y="24871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Bugs détectés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48640" y="3291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Répartition des bugs par sévérité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8640" y="3703320"/>
            <a:ext cx="2148840" cy="1051560"/>
          </a:xfrm>
          <a:prstGeom prst="roundRect">
            <a:avLst>
              <a:gd name="adj" fmla="val 695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81304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53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193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40080" y="436168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Bloquants (rouge)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88920" y="3703320"/>
            <a:ext cx="2148840" cy="1051560"/>
          </a:xfrm>
          <a:prstGeom prst="roundRect">
            <a:avLst>
              <a:gd name="adj" fmla="val 695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80360" y="381304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9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2880360" y="436168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Moyens (orange)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029200" y="3703320"/>
            <a:ext cx="2148840" cy="1051560"/>
          </a:xfrm>
          <a:prstGeom prst="roundRect">
            <a:avLst>
              <a:gd name="adj" fmla="val 695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0" y="381304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0B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17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5120640" y="436168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Mineurs (jaune)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406640" y="3703320"/>
            <a:ext cx="420624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Chaque cas dispose d'une vidéo MP4 du parcours réel et d'une capture. Les bugs sont annotés visuellement (cercle/cadre coloré) sur l'IHM.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TE-LOCAL-INT2-SPRINT-11-12-13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COUVERTURE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Couverture par module (MP)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Données réelles issues de l'exécution headed sur INT2.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371600"/>
                <a:gridCol w="1645920"/>
                <a:gridCol w="2011680"/>
                <a:gridCol w="2194560"/>
                <a:gridCol w="14904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Module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Passés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Bloqués flux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Bloqués données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Bugs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MP1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MP2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MP3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34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MP4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MP5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32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MP6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SP1.5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Couverture par module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Synthèse par ticket ORI (1-15/29)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Concordance Excel ↔ Jira ↔ exécution.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5852160"/>
                <a:gridCol w="914400"/>
                <a:gridCol w="1005840"/>
                <a:gridCol w="1005840"/>
                <a:gridCol w="10332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Résumé Jira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Passés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Bloqués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Bugs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ORI-368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E4.2.B Vue Agence &gt; Besoins - Description du tableau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ORI-452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E5.2.2.A1 Générer des notifications sur la durée de 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E2.1.2.D Mettre à jour une famille de produits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E4.2.B Vue Agence &gt; Besoins - Zones de filtres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ORI-688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E5.2.1 Afficher l'état des pointages d'une intervent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E3.2.1 Créer un contrat intervenant - Durée du trava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E5.2.1.D6 Vérifier la disponibilité de l'intervenant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SP4.1 Adaptation UX des icônes, tags et multi-élémen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E5.2.1.D6 Notifier les erreurs (création/modificatio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E4.1.1.E2 RDV commerciaux : afficher la localisation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[STE] E1.1.1 Modifier les données Légales - Coordonn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[ETAB] E1.1.1 Modifier les Aspects Juridiques d'un 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E6.1.3.A3 Ecran Activités Financées - Détails après 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SP1.5 E1.5.4 F5 - Détail d'un profil - Modification 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Synthèse par ticket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Synthèse par ticket ORI (16-29/29)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Concordance Excel ↔ Jira ↔ exécution.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5852160"/>
                <a:gridCol w="914400"/>
                <a:gridCol w="1005840"/>
                <a:gridCol w="1005840"/>
                <a:gridCol w="10332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Résumé Jira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Passés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Bloqués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Bugs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SP1.5 E1.5.4 F1 - Détail d'un profil - Bloc entête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SP1.5 E1.5.4 F2 - Détail d'un profil - Liste des cas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SP1.5 E1.5.4 F3 - Détail d'un profil - Droits fins 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SP1.5 E1.5.4 F4 - Détail d'un profil - Droits spécia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E3.4.1 GTA front - Compteurs CP : écran principal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E3.4.1 GTA - Autres absences : gestion des heures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E4.2.B2 Vue Agence &gt; Besoins - Abandonner un besoin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SP1.5 E1.5.4 F6 - Détail d'un profil - Mise en place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E3.2.1 Créer un contrat intervenant - Durée du trava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E2.1.4.A Consulter la liste des options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E2.1.4.B Créer une option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E4.2.B1 Qualifier un besoin - Renderer formulaire dy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SP1.5 E1.5.4 F7 - Détail d'un profil - Enregistremen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E3.4.1 GTA - Autres absences : visualiser une absenc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Synthèse par ticket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 · BLOQUANT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ORI-1039 — CT-DURF-01</a:t>
            </a:r>
            <a:endParaRPr lang="en-US" sz="3200" dirty="0"/>
          </a:p>
        </p:txBody>
      </p:sp>
      <p:pic>
        <p:nvPicPr>
          <p:cNvPr id="5" name="Image 0" descr="/Users/yacinebenhamou/Documents/playwrightOrion/mon-espace/recette-sprints-11-12-13/livrables-opencode/preuves/ORI-1039/CT-DURF-01/screenshot-annotat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83080"/>
            <a:ext cx="6766560" cy="380390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98080" y="178308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589520" y="18562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SÉVÉRITÉ : BLOQUANT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498080" y="2423160"/>
            <a:ext cx="411480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Description fonctionnelle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orion-autonomous-catalog.spec.ts &gt; ORI-PIPELINE-AUTONOMOUS: Exécution dynamique de la matrice Excel &gt; ORI-1039 - CT-DURF-01 [R122]: RG_CONT_Hhebdo_13 - Champ heures hebdomadaires : affichage, saisie U
</a:t>
            </a:r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Constat technique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Étapes 0/0, assertions 0/0
</a:t>
            </a:r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Règles concernées : </a:t>
            </a:r>
            <a:pPr indent="0" marL="0">
              <a:buNone/>
            </a:pPr>
            <a:r>
              <a:rPr lang="en-US" sz="1000" dirty="0">
                <a:solidFill>
                  <a:srgbClr val="65758B"/>
                </a:solidFill>
              </a:rPr>
              <a:t>—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 : screenshot-annotated.png · Vidéo : journey.mp4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 · BLOQUANT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ORI-1039 — CT-DURF-02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RG_CONT_Hmens_14 - Affichage temps reel des heures mensuelles (champ lecture seule UI)</a:t>
            </a:r>
            <a:endParaRPr lang="en-US" sz="1200" dirty="0"/>
          </a:p>
        </p:txBody>
      </p:sp>
      <p:pic>
        <p:nvPicPr>
          <p:cNvPr id="6" name="Image 0" descr="/Users/yacinebenhamou/Documents/playwrightOrion/mon-espace/recette-sprints-11-12-13/livrables-opencode/preuves/ORI-1039/CT-DURF-02/screenshot-annotat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83080"/>
            <a:ext cx="6766560" cy="38039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98080" y="178308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9520" y="18562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SÉVÉRITÉ : BLOQUANT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98080" y="2423160"/>
            <a:ext cx="411480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Description fonctionnelle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RG_CONT_Hmens_14 - Affichage temps reel des heures mensuelles (champ lecture seule UI)
</a:t>
            </a:r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Constat technique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Étape "Cliquer dans le champ mensuel et tenter de saisir" : élément cible introuvable sur INT2 (parcours bloqué ici)
</a:t>
            </a:r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Règles concernées : </a:t>
            </a:r>
            <a:pPr indent="0" marL="0">
              <a:buNone/>
            </a:pPr>
            <a:r>
              <a:rPr lang="en-US" sz="1000" dirty="0">
                <a:solidFill>
                  <a:srgbClr val="65758B"/>
                </a:solidFill>
              </a:rPr>
              <a:t>RG_CONT_Hmens_14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 : screenshot-annotated.png · Vidéo : journey.mp4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 · BLOQUANT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ORI-1039 — CT-DURF-03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RG_CONT_Temps_15 - Radio Temps plein/partiel : selection UI et effets d'affichage conditio</a:t>
            </a:r>
            <a:endParaRPr lang="en-US" sz="1200" dirty="0"/>
          </a:p>
        </p:txBody>
      </p:sp>
      <p:pic>
        <p:nvPicPr>
          <p:cNvPr id="6" name="Image 0" descr="/Users/yacinebenhamou/Documents/playwrightOrion/mon-espace/recette-sprints-11-12-13/livrables-opencode/preuves/ORI-1039/CT-DURF-03/screenshot-annotat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83080"/>
            <a:ext cx="6766560" cy="38039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98080" y="178308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9520" y="18562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SÉVÉRITÉ : BLOQUANT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98080" y="2423160"/>
            <a:ext cx="411480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Description fonctionnelle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RG_CONT_Temps_15 - Radio Temps plein/partiel : selection UI et effets d'affichage conditionnel
</a:t>
            </a:r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Constat technique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Étape "Cliquer Temps partiel, observer l'UI" : élément cible introuvable sur INT2 (parcours bloqué ici)
</a:t>
            </a:r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Règles concernées : </a:t>
            </a:r>
            <a:pPr indent="0" marL="0">
              <a:buNone/>
            </a:pPr>
            <a:r>
              <a:rPr lang="en-US" sz="1000" dirty="0">
                <a:solidFill>
                  <a:srgbClr val="65758B"/>
                </a:solidFill>
              </a:rPr>
              <a:t>RG_CONT_Temps_15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 : screenshot-annotated.png · Vidéo : journey.mp4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 · BLOQUANT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ORI-1039 — CT-DURF-04</a:t>
            </a:r>
            <a:endParaRPr lang="en-US" sz="3200" dirty="0"/>
          </a:p>
        </p:txBody>
      </p:sp>
      <p:pic>
        <p:nvPicPr>
          <p:cNvPr id="5" name="Image 0" descr="/Users/yacinebenhamou/Documents/playwrightOrion/mon-espace/recette-sprints-11-12-13/livrables-opencode/preuves/ORI-1039/CT-DURF-04/screenshot-annotat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83080"/>
            <a:ext cx="6766560" cy="380390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98080" y="178308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589520" y="18562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SÉVÉRITÉ : BLOQUANT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498080" y="2423160"/>
            <a:ext cx="411480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Description fonctionnelle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orion-autonomous-catalog.spec.ts &gt; ORI-PIPELINE-AUTONOMOUS: Exécution dynamique de la matrice Excel &gt; ORI-1039 - CT-DURF-04 [R125]: RG_CONT_TauxP_16 - Affichage temps reel du taux temps plein (%) (lec
</a:t>
            </a:r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Constat technique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Étapes 0/0, assertions 0/0
</a:t>
            </a:r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Règles concernées : </a:t>
            </a:r>
            <a:pPr indent="0" marL="0">
              <a:buNone/>
            </a:pPr>
            <a:r>
              <a:rPr lang="en-US" sz="1000" dirty="0">
                <a:solidFill>
                  <a:srgbClr val="65758B"/>
                </a:solidFill>
              </a:rPr>
              <a:t>—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 : screenshot-annotated.png · Vidéo : journey.mp4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 · BLOQUANT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ORI-1039 — CT-DURF-05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RG_CONT_ModOrg_38_V2 - Liste deroulante mode d'organisation (Forfait jours masque, afficha</a:t>
            </a:r>
            <a:endParaRPr lang="en-US" sz="1200" dirty="0"/>
          </a:p>
        </p:txBody>
      </p:sp>
      <p:pic>
        <p:nvPicPr>
          <p:cNvPr id="6" name="Image 0" descr="/Users/yacinebenhamou/Documents/playwrightOrion/mon-espace/recette-sprints-11-12-13/livrables-opencode/preuves/ORI-1039/CT-DURF-05/screenshot-annotat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83080"/>
            <a:ext cx="6766560" cy="38039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98080" y="178308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9520" y="18562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SÉVÉRITÉ : BLOQUANT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98080" y="2423160"/>
            <a:ext cx="411480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Description fonctionnelle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RG_CONT_ModOrg_38_V2 - Liste deroulante mode d'organisation (Forfait jours masque, affichage conditionnel)
</a:t>
            </a:r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Constat technique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Étape "Revenir Hebdomadaire fixe" : élément cible introuvable sur INT2 (parcours bloqué ici)
</a:t>
            </a:r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Règles concernées : </a:t>
            </a:r>
            <a:pPr indent="0" marL="0">
              <a:buNone/>
            </a:pPr>
            <a:r>
              <a:rPr lang="en-US" sz="1000" dirty="0">
                <a:solidFill>
                  <a:srgbClr val="65758B"/>
                </a:solidFill>
              </a:rPr>
              <a:t>RG_CONT_ModOrg_38_V2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 : screenshot-annotated.png · Vidéo : journey.mp4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 · BLOQUANT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ORI-1039 — CT-DURF-06</a:t>
            </a:r>
            <a:endParaRPr lang="en-US" sz="3200" dirty="0"/>
          </a:p>
        </p:txBody>
      </p:sp>
      <p:pic>
        <p:nvPicPr>
          <p:cNvPr id="5" name="Image 0" descr="/Users/yacinebenhamou/Documents/playwrightOrion/mon-espace/recette-sprints-11-12-13/livrables-opencode/preuves/ORI-1039/CT-DURF-06/screenshot-annotat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83080"/>
            <a:ext cx="6766560" cy="380390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98080" y="178308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589520" y="18562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SÉVÉRITÉ : BLOQUANT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498080" y="2423160"/>
            <a:ext cx="411480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Description fonctionnelle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orion-autonomous-catalog.spec.ts &gt; ORI-PIPELINE-AUTONOMOUS: Exécution dynamique de la matrice Excel &gt; ORI-1039 - CT-DURF-06 [R127]: RG_CONT_ATT_18 - Affichage du bloc ATT et alerte de depassement (hor
</a:t>
            </a:r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Constat technique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Étapes 0/0, assertions 0/0
</a:t>
            </a:r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Règles concernées : </a:t>
            </a:r>
            <a:pPr indent="0" marL="0">
              <a:buNone/>
            </a:pPr>
            <a:r>
              <a:rPr lang="en-US" sz="1000" dirty="0">
                <a:solidFill>
                  <a:srgbClr val="65758B"/>
                </a:solidFill>
              </a:rPr>
              <a:t>—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 : screenshot-annotated.png · Vidéo : journey.mp4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 · BLOQUANT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ORI-1039 — CT-DURF-07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RG_CONT_DerogTP_39 - Liste derogation &lt; 24h : apparition conditionnelle et message bloquan</a:t>
            </a:r>
            <a:endParaRPr lang="en-US" sz="1200" dirty="0"/>
          </a:p>
        </p:txBody>
      </p:sp>
      <p:pic>
        <p:nvPicPr>
          <p:cNvPr id="6" name="Image 0" descr="/Users/yacinebenhamou/Documents/playwrightOrion/mon-espace/recette-sprints-11-12-13/livrables-opencode/preuves/ORI-1039/CT-DURF-07/screenshot-annotat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83080"/>
            <a:ext cx="6766560" cy="38039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98080" y="178308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9520" y="18562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SÉVÉRITÉ : BLOQUANT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98080" y="2423160"/>
            <a:ext cx="411480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Description fonctionnelle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RG_CONT_DerogTP_39 - Liste derogation &lt; 24h : apparition conditionnelle et message bloquant
</a:t>
            </a:r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Constat technique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Étape "Porter hebdo a 24" : élément cible introuvable sur INT2 (parcours bloqué ici)
</a:t>
            </a:r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Règles concernées : </a:t>
            </a:r>
            <a:pPr indent="0" marL="0">
              <a:buNone/>
            </a:pPr>
            <a:r>
              <a:rPr lang="en-US" sz="1000" dirty="0">
                <a:solidFill>
                  <a:srgbClr val="65758B"/>
                </a:solidFill>
              </a:rPr>
              <a:t>RG_CONT_DerogTP_39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 : screenshot-annotated.png · Vidéo : journey.mp4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 · BLOQUANT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ORI-1039 — CT-DURF-08</a:t>
            </a:r>
            <a:endParaRPr lang="en-US" sz="3200" dirty="0"/>
          </a:p>
        </p:txBody>
      </p:sp>
      <p:pic>
        <p:nvPicPr>
          <p:cNvPr id="5" name="Image 0" descr="/Users/yacinebenhamou/Documents/playwrightOrion/mon-espace/recette-sprints-11-12-13/livrables-opencode/preuves/ORI-1039/CT-DURF-08/screenshot-annotat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83080"/>
            <a:ext cx="6766560" cy="380390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98080" y="178308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589520" y="18562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SÉVÉRITÉ : BLOQUANT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498080" y="2423160"/>
            <a:ext cx="411480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Description fonctionnelle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orion-autonomous-catalog.spec.ts &gt; ORI-PIPELINE-AUTONOMOUS: Exécution dynamique de la matrice Excel &gt; ORI-1039 - CT-DURF-08 [R129]: RG_CONT_Compl_40 - Affichage du plafond heures complementaires (lect
</a:t>
            </a:r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Constat technique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Étapes 0/0, assertions 0/0
</a:t>
            </a:r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Règles concernées : </a:t>
            </a:r>
            <a:pPr indent="0" marL="0">
              <a:buNone/>
            </a:pPr>
            <a:r>
              <a:rPr lang="en-US" sz="1000" dirty="0">
                <a:solidFill>
                  <a:srgbClr val="65758B"/>
                </a:solidFill>
              </a:rPr>
              <a:t>—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 : screenshot-annotated.png · Vidéo : journey.mp4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 · BLOQUANT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ORI-1039 — CT-DURF-09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RG_CONT_Mutuelle_42 - Alerte seuil mutuelle : affichage/masquage dynamique du message</a:t>
            </a:r>
            <a:endParaRPr lang="en-US" sz="1200" dirty="0"/>
          </a:p>
        </p:txBody>
      </p:sp>
      <p:pic>
        <p:nvPicPr>
          <p:cNvPr id="6" name="Image 0" descr="/Users/yacinebenhamou/Documents/playwrightOrion/mon-espace/recette-sprints-11-12-13/livrables-opencode/preuves/ORI-1039/CT-DURF-09/screenshot-annotat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83080"/>
            <a:ext cx="6766560" cy="38039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98080" y="178308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9520" y="18562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SÉVÉRITÉ : BLOQUANT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98080" y="2423160"/>
            <a:ext cx="411480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Description fonctionnelle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RG_CONT_Mutuelle_42 - Alerte seuil mutuelle : affichage/masquage dynamique du message
</a:t>
            </a:r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Constat technique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Étape "Porter hebdo a 24" : élément cible introuvable sur INT2 (parcours bloqué ici)
</a:t>
            </a:r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Règles concernées : </a:t>
            </a:r>
            <a:pPr indent="0" marL="0">
              <a:buNone/>
            </a:pPr>
            <a:r>
              <a:rPr lang="en-US" sz="1000" dirty="0">
                <a:solidFill>
                  <a:srgbClr val="65758B"/>
                </a:solidFill>
              </a:rPr>
              <a:t>RG_CONT_Mutuelle_42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 : screenshot-annotated.png · Vidéo : journey.mp4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 · BLOQUANT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ORI-1039 — CT-DURF-10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RG_CONT_TickResto_44 - Alerte seuil tickets restaurant : affichage dynamique selon seuil m</a:t>
            </a:r>
            <a:endParaRPr lang="en-US" sz="1200" dirty="0"/>
          </a:p>
        </p:txBody>
      </p:sp>
      <p:pic>
        <p:nvPicPr>
          <p:cNvPr id="6" name="Image 0" descr="/Users/yacinebenhamou/Documents/playwrightOrion/mon-espace/recette-sprints-11-12-13/livrables-opencode/preuves/ORI-1039/CT-DURF-10/screenshot-annotat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83080"/>
            <a:ext cx="6766560" cy="38039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98080" y="178308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9520" y="18562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SÉVÉRITÉ : BLOQUANT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98080" y="2423160"/>
            <a:ext cx="411480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Description fonctionnelle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RG_CONT_TickResto_44 - Alerte seuil tickets restaurant : affichage dynamique selon seuil marque
</a:t>
            </a:r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Constat technique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Étape "Porter hebdo a 24" : élément cible introuvable sur INT2 (parcours bloqué ici)
</a:t>
            </a:r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Règles concernées : </a:t>
            </a:r>
            <a:pPr indent="0" marL="0">
              <a:buNone/>
            </a:pPr>
            <a:r>
              <a:rPr lang="en-US" sz="1000" dirty="0">
                <a:solidFill>
                  <a:srgbClr val="65758B"/>
                </a:solidFill>
              </a:rPr>
              <a:t>RG_CONT_TickResto_44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 : screenshot-annotated.png · Vidéo : journey.mp4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 · BLOQUANT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ORI-1039 — CT-DURF-11</a:t>
            </a:r>
            <a:endParaRPr lang="en-US" sz="3200" dirty="0"/>
          </a:p>
        </p:txBody>
      </p:sp>
      <p:pic>
        <p:nvPicPr>
          <p:cNvPr id="5" name="Image 0" descr="/Users/yacinebenhamou/Documents/playwrightOrion/mon-espace/recette-sprints-11-12-13/livrables-opencode/preuves/ORI-1039/CT-DURF-11/screenshot-annotat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83080"/>
            <a:ext cx="6766560" cy="380390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98080" y="178308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589520" y="18562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SÉVÉRITÉ : BLOQUANT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498080" y="2423160"/>
            <a:ext cx="411480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Description fonctionnelle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orion-autonomous-catalog.spec.ts &gt; ORI-PIPELINE-AUTONOMOUS: Exécution dynamique de la matrice Excel &gt; ORI-1039 - CT-DURF-11 [R132]: Conformite maquette Figma et enchainement des affichages conditionne
</a:t>
            </a:r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Constat technique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Étapes 0/0, assertions 0/0
</a:t>
            </a:r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Règles concernées : </a:t>
            </a:r>
            <a:pPr indent="0" marL="0">
              <a:buNone/>
            </a:pPr>
            <a:r>
              <a:rPr lang="en-US" sz="1000" dirty="0">
                <a:solidFill>
                  <a:srgbClr val="65758B"/>
                </a:solidFill>
              </a:rPr>
              <a:t>—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 : screenshot-annotated.png · Vidéo : journey.mp4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 · BLOQUANT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ORI-1039 — CT-DURF-12</a:t>
            </a:r>
            <a:endParaRPr lang="en-US" sz="3200" dirty="0"/>
          </a:p>
        </p:txBody>
      </p:sp>
      <p:pic>
        <p:nvPicPr>
          <p:cNvPr id="5" name="Image 0" descr="/Users/yacinebenhamou/Documents/playwrightOrion/mon-espace/recette-sprints-11-12-13/livrables-opencode/preuves/ORI-1039/CT-DURF-12/screenshot-annotat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83080"/>
            <a:ext cx="6766560" cy="380390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98080" y="178308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589520" y="18562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SÉVÉRITÉ : BLOQUANT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498080" y="2423160"/>
            <a:ext cx="411480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Description fonctionnelle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orion-autonomous-catalog.spec.ts &gt; ORI-PIPELINE-AUTONOMOUS: Exécution dynamique de la matrice Excel &gt; ORI-1039 - CT-DURF-12 [R133]: Accessibilite et etats des champs (focus, tab, aria, etats desactive
</a:t>
            </a:r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Constat technique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Étapes 0/0, assertions 0/0
</a:t>
            </a:r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Règles concernées : </a:t>
            </a:r>
            <a:pPr indent="0" marL="0">
              <a:buNone/>
            </a:pPr>
            <a:r>
              <a:rPr lang="en-US" sz="1000" dirty="0">
                <a:solidFill>
                  <a:srgbClr val="65758B"/>
                </a:solidFill>
              </a:rPr>
              <a:t>—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 : screenshot-annotated.png · Vidéo : journey.mp4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 · BLOQUANT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ORI-1065 — CT-OPT-A-01</a:t>
            </a:r>
            <a:endParaRPr lang="en-US" sz="3200" dirty="0"/>
          </a:p>
        </p:txBody>
      </p:sp>
      <p:pic>
        <p:nvPicPr>
          <p:cNvPr id="5" name="Image 0" descr="/Users/yacinebenhamou/Documents/playwrightOrion/mon-espace/recette-sprints-11-12-13/livrables-opencode/preuves/ORI-1065/CT-OPT-A-01/screenshot-annotat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83080"/>
            <a:ext cx="6766560" cy="380390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98080" y="178308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589520" y="18562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SÉVÉRITÉ : BLOQUANT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498080" y="2423160"/>
            <a:ext cx="411480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Description fonctionnelle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orion-autonomous-catalog.spec.ts &gt; ORI-PIPELINE-AUTONOMOUS: Exécution dynamique de la matrice Excel &gt; ORI-1065 - CT-OPT-A-01 [R89]: CA01+CA02: Affichage liste - avec habilitations (actives+inactives) 
</a:t>
            </a:r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Constat technique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Étapes 0/0, assertions 0/0
</a:t>
            </a:r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Règles concernées : </a:t>
            </a:r>
            <a:pPr indent="0" marL="0">
              <a:buNone/>
            </a:pPr>
            <a:r>
              <a:rPr lang="en-US" sz="1000" dirty="0">
                <a:solidFill>
                  <a:srgbClr val="65758B"/>
                </a:solidFill>
              </a:rPr>
              <a:t>—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 : screenshot-annotated.png · Vidéo : journey.mp4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 · BLOQUANT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ORI-1065 — CT-OPT-A-02</a:t>
            </a:r>
            <a:endParaRPr lang="en-US" sz="3200" dirty="0"/>
          </a:p>
        </p:txBody>
      </p:sp>
      <p:pic>
        <p:nvPicPr>
          <p:cNvPr id="5" name="Image 0" descr="/Users/yacinebenhamou/Documents/playwrightOrion/mon-espace/recette-sprints-11-12-13/livrables-opencode/preuves/ORI-1065/CT-OPT-A-02/screenshot-annotat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83080"/>
            <a:ext cx="6766560" cy="380390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98080" y="178308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589520" y="18562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SÉVÉRITÉ : BLOQUANT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498080" y="2423160"/>
            <a:ext cx="411480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Description fonctionnelle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orion-autonomous-catalog.spec.ts &gt; ORI-PIPELINE-AUTONOMOUS: Exécution dynamique de la matrice Excel &gt; ORI-1065 - CT-OPT-A-02 [R90]: CA03: Recherche par libelle commercial ou code (partielle, insensibl
</a:t>
            </a:r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Constat technique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Étapes 0/0, assertions 0/0
</a:t>
            </a:r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Règles concernées : </a:t>
            </a:r>
            <a:pPr indent="0" marL="0">
              <a:buNone/>
            </a:pPr>
            <a:r>
              <a:rPr lang="en-US" sz="1000" dirty="0">
                <a:solidFill>
                  <a:srgbClr val="65758B"/>
                </a:solidFill>
              </a:rPr>
              <a:t>—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 : screenshot-annotated.png · Vidéo : journey.mp4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 · BLOQUANT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ORI-1065 — CT-OPT-A-03</a:t>
            </a:r>
            <a:endParaRPr lang="en-US" sz="3200" dirty="0"/>
          </a:p>
        </p:txBody>
      </p:sp>
      <p:pic>
        <p:nvPicPr>
          <p:cNvPr id="5" name="Image 0" descr="/Users/yacinebenhamou/Documents/playwrightOrion/mon-espace/recette-sprints-11-12-13/livrables-opencode/preuves/ORI-1065/CT-OPT-A-03/screenshot-annotat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83080"/>
            <a:ext cx="6766560" cy="380390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98080" y="178308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589520" y="18562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SÉVÉRITÉ : BLOQUANT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498080" y="2423160"/>
            <a:ext cx="411480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Description fonctionnelle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orion-autonomous-catalog.spec.ts &gt; ORI-PIPELINE-AUTONOMOUS: Exécution dynamique de la matrice Excel &gt; ORI-1065 - CT-OPT-A-03 [R91]: CA04+CA05+CA06: Filtres Statut (Actif/Inactif) + Marche + Taxe
</a:t>
            </a:r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Constat technique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Étapes 0/0, assertions 0/0
</a:t>
            </a:r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Règles concernées : </a:t>
            </a:r>
            <a:pPr indent="0" marL="0">
              <a:buNone/>
            </a:pPr>
            <a:r>
              <a:rPr lang="en-US" sz="1000" dirty="0">
                <a:solidFill>
                  <a:srgbClr val="65758B"/>
                </a:solidFill>
              </a:rPr>
              <a:t>—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 : screenshot-annotated.png · Vidéo : journey.mp4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 · BLOQUANT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ORI-1065 — CT-OPT-A-04</a:t>
            </a:r>
            <a:endParaRPr lang="en-US" sz="3200" dirty="0"/>
          </a:p>
        </p:txBody>
      </p:sp>
      <p:pic>
        <p:nvPicPr>
          <p:cNvPr id="5" name="Image 0" descr="/Users/yacinebenhamou/Documents/playwrightOrion/mon-espace/recette-sprints-11-12-13/livrables-opencode/preuves/ORI-1065/CT-OPT-A-04/screenshot-annotat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83080"/>
            <a:ext cx="6766560" cy="380390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98080" y="178308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589520" y="18562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SÉVÉRITÉ : BLOQUANT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498080" y="2423160"/>
            <a:ext cx="411480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Description fonctionnelle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orion-autonomous-catalog.spec.ts &gt; ORI-PIPELINE-AUTONOMOUS: Exécution dynamique de la matrice Excel &gt; ORI-1065 - CT-OPT-A-04 [R92]: CA07: Colonne Periodicite conditionnelle (Recurrent vs Ponctuel)
</a:t>
            </a:r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Constat technique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Étapes 0/0, assertions 0/0
</a:t>
            </a:r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Règles concernées : </a:t>
            </a:r>
            <a:pPr indent="0" marL="0">
              <a:buNone/>
            </a:pPr>
            <a:r>
              <a:rPr lang="en-US" sz="1000" dirty="0">
                <a:solidFill>
                  <a:srgbClr val="65758B"/>
                </a:solidFill>
              </a:rPr>
              <a:t>—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 : screenshot-annotated.png · Vidéo : journey.mp4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 · BLOQUANT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ORI-1065 — CT-OPT-A-05</a:t>
            </a:r>
            <a:endParaRPr lang="en-US" sz="3200" dirty="0"/>
          </a:p>
        </p:txBody>
      </p:sp>
      <p:pic>
        <p:nvPicPr>
          <p:cNvPr id="5" name="Image 0" descr="/Users/yacinebenhamou/Documents/playwrightOrion/mon-espace/recette-sprints-11-12-13/livrables-opencode/preuves/ORI-1065/CT-OPT-A-05/screenshot-annotat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83080"/>
            <a:ext cx="6766560" cy="380390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98080" y="178308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589520" y="18562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SÉVÉRITÉ : BLOQUANT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498080" y="2423160"/>
            <a:ext cx="411480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Description fonctionnelle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orion-autonomous-catalog.spec.ts &gt; ORI-PIPELINE-AUTONOMOUS: Exécution dynamique de la matrice Excel &gt; ORI-1065 - CT-OPT-A-05 [R93]: CA08: Conservation des filtres lors de la navigation vers fiche puis
</a:t>
            </a:r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Constat technique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Étapes 0/0, assertions 0/0
</a:t>
            </a:r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Règles concernées : </a:t>
            </a:r>
            <a:pPr indent="0" marL="0">
              <a:buNone/>
            </a:pPr>
            <a:r>
              <a:rPr lang="en-US" sz="1000" dirty="0">
                <a:solidFill>
                  <a:srgbClr val="65758B"/>
                </a:solidFill>
              </a:rPr>
              <a:t>—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 : screenshot-annotated.png · Vidéo : journey.mp4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 · BLOQUANT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ORI-1065 — CT-OPT-A-06</a:t>
            </a:r>
            <a:endParaRPr lang="en-US" sz="3200" dirty="0"/>
          </a:p>
        </p:txBody>
      </p:sp>
      <p:pic>
        <p:nvPicPr>
          <p:cNvPr id="5" name="Image 0" descr="/Users/yacinebenhamou/Documents/playwrightOrion/mon-espace/recette-sprints-11-12-13/livrables-opencode/preuves/ORI-1065/CT-OPT-A-06/screenshot-annotat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83080"/>
            <a:ext cx="6766560" cy="380390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98080" y="178308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589520" y="18562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SÉVÉRITÉ : BLOQUANT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498080" y="2423160"/>
            <a:ext cx="411480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Description fonctionnelle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orion-autonomous-catalog.spec.ts &gt; ORI-PIPELINE-AUTONOMOUS: Exécution dynamique de la matrice Excel &gt; ORI-1065 - CT-OPT-A-06 [R94]: CA09: Acces a la consultation via fleche -&gt; drawer lecture seule
</a:t>
            </a:r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Constat technique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Étapes 0/0, assertions 0/0
</a:t>
            </a:r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Règles concernées : </a:t>
            </a:r>
            <a:pPr indent="0" marL="0">
              <a:buNone/>
            </a:pPr>
            <a:r>
              <a:rPr lang="en-US" sz="1000" dirty="0">
                <a:solidFill>
                  <a:srgbClr val="65758B"/>
                </a:solidFill>
              </a:rPr>
              <a:t>—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 : screenshot-annotated.png · Vidéo : journey.mp4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 · BLOQUANT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ORI-1065 — CT-OPT-A-07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CA10: Adaptation reglementaire par pays - colonne/filtre Taxe selon pack reglementaire</a:t>
            </a:r>
            <a:endParaRPr lang="en-US" sz="1200" dirty="0"/>
          </a:p>
        </p:txBody>
      </p:sp>
      <p:pic>
        <p:nvPicPr>
          <p:cNvPr id="6" name="Image 0" descr="/Users/yacinebenhamou/Documents/playwrightOrion/mon-espace/recette-sprints-11-12-13/livrables-opencode/preuves/ORI-1065/CT-OPT-A-07/screenshot-annotat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83080"/>
            <a:ext cx="6766560" cy="38039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98080" y="178308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9520" y="18562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SÉVÉRITÉ : BLOQUANT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98080" y="2423160"/>
            <a:ext cx="411480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Description fonctionnelle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CA10: Adaptation reglementaire par pays - colonne/filtre Taxe selon pack reglementaire
</a:t>
            </a:r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Constat technique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Étape "Se connecter avec marque France" : élément cible introuvable sur INT2 (parcours bloqué ici)
</a:t>
            </a:r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Règles concernées : </a:t>
            </a:r>
            <a:pPr indent="0" marL="0">
              <a:buNone/>
            </a:pPr>
            <a:r>
              <a:rPr lang="en-US" sz="1000" dirty="0">
                <a:solidFill>
                  <a:srgbClr val="65758B"/>
                </a:solidFill>
              </a:rPr>
              <a:t>RG_OPT_LIST_15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 : screenshot-annotated.png · Vidéo : journey.mp4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 · BLOQUANT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ORI-1065 — CT-OPT-A-08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Bouton Reinitialiser + pagination standards Orion</a:t>
            </a:r>
            <a:endParaRPr lang="en-US" sz="1200" dirty="0"/>
          </a:p>
        </p:txBody>
      </p:sp>
      <p:pic>
        <p:nvPicPr>
          <p:cNvPr id="6" name="Image 0" descr="/Users/yacinebenhamou/Documents/playwrightOrion/mon-espace/recette-sprints-11-12-13/livrables-opencode/preuves/ORI-1065/CT-OPT-A-08/screenshot-annotat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83080"/>
            <a:ext cx="6766560" cy="38039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98080" y="178308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9520" y="18562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SÉVÉRITÉ : BLOQUANT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98080" y="2423160"/>
            <a:ext cx="411480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Description fonctionnelle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Bouton Reinitialiser + pagination standards Orion
</a:t>
            </a:r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Constat technique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Étape "Appliquer plusieurs filtres + recherche" : élément cible introuvable sur INT2 (parcours bloqué ici)
</a:t>
            </a:r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Règles concernées : </a:t>
            </a:r>
            <a:pPr indent="0" marL="0">
              <a:buNone/>
            </a:pPr>
            <a:r>
              <a:rPr lang="en-US" sz="1000" dirty="0">
                <a:solidFill>
                  <a:srgbClr val="65758B"/>
                </a:solidFill>
              </a:rPr>
              <a:t>RG_OPT_LIST_10, RG_OPT_LIST_11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 : screenshot-annotated.png · Vidéo : journey.mp4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 · BLOQUANT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ORI-1067 — CT-OPT-B-05</a:t>
            </a:r>
            <a:endParaRPr lang="en-US" sz="3200" dirty="0"/>
          </a:p>
        </p:txBody>
      </p:sp>
      <p:pic>
        <p:nvPicPr>
          <p:cNvPr id="5" name="Image 0" descr="/Users/yacinebenhamou/Documents/playwrightOrion/mon-espace/recette-sprints-11-12-13/livrables-opencode/preuves/ORI-1067/CT-OPT-B-05/screenshot-annotat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83080"/>
            <a:ext cx="6766560" cy="380390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98080" y="178308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589520" y="18562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SÉVÉRITÉ : BLOQUANT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498080" y="2423160"/>
            <a:ext cx="411480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Description fonctionnelle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orion-autonomous-catalog.spec.ts &gt; ORI-PIPELINE-AUTONOMOUS: Exécution dynamique de la matrice Excel &gt; ORI-1067 - CT-OPT-B-05 [R102]: CA07+CA08+CA09+CA10+CA16: Controles code (filtrage auto, normalisat
</a:t>
            </a:r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Constat technique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Étapes 0/0, assertions 0/0
</a:t>
            </a:r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Règles concernées : </a:t>
            </a:r>
            <a:pPr indent="0" marL="0">
              <a:buNone/>
            </a:pPr>
            <a:r>
              <a:rPr lang="en-US" sz="1000" dirty="0">
                <a:solidFill>
                  <a:srgbClr val="65758B"/>
                </a:solidFill>
              </a:rPr>
              <a:t>—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 : screenshot-annotated.png · Vidéo : journey.mp4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 · BLOQUANT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ORI-1067 — CT-OPT-B-07</a:t>
            </a:r>
            <a:endParaRPr lang="en-US" sz="3200" dirty="0"/>
          </a:p>
        </p:txBody>
      </p:sp>
      <p:pic>
        <p:nvPicPr>
          <p:cNvPr id="5" name="Image 0" descr="/Users/yacinebenhamou/Documents/playwrightOrion/mon-espace/recette-sprints-11-12-13/livrables-opencode/preuves/ORI-1067/CT-OPT-B-07/screenshot-annotat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83080"/>
            <a:ext cx="6766560" cy="380390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98080" y="178308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589520" y="18562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SÉVÉRITÉ : BLOQUANT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498080" y="2423160"/>
            <a:ext cx="411480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Description fonctionnelle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orion-autonomous-catalog.spec.ts &gt; ORI-PIPELINE-AUTONOMOUS: Exécution dynamique de la matrice Excel &gt; ORI-1067 - CT-OPT-B-07 [R104]: CA13: Quantite facturable invalide (&lt; 1 ou &gt; 9999)
</a:t>
            </a:r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Constat technique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Étapes 0/0, assertions 0/0
</a:t>
            </a:r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Règles concernées : </a:t>
            </a:r>
            <a:pPr indent="0" marL="0">
              <a:buNone/>
            </a:pPr>
            <a:r>
              <a:rPr lang="en-US" sz="1000" dirty="0">
                <a:solidFill>
                  <a:srgbClr val="65758B"/>
                </a:solidFill>
              </a:rPr>
              <a:t>—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 : screenshot-annotated.png · Vidéo : journey.mp4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 · BLOQUANT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ORI-1067 — CT-OPT-B-08</a:t>
            </a:r>
            <a:endParaRPr lang="en-US" sz="3200" dirty="0"/>
          </a:p>
        </p:txBody>
      </p:sp>
      <p:pic>
        <p:nvPicPr>
          <p:cNvPr id="5" name="Image 0" descr="/Users/yacinebenhamou/Documents/playwrightOrion/mon-espace/recette-sprints-11-12-13/livrables-opencode/preuves/ORI-1067/CT-OPT-B-08/screenshot-annotat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83080"/>
            <a:ext cx="6766560" cy="380390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98080" y="178308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589520" y="18562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SÉVÉRITÉ : BLOQUANT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498080" y="2423160"/>
            <a:ext cx="411480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Description fonctionnelle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orion-autonomous-catalog.spec.ts &gt; ORI-PIPELINE-AUTONOMOUS: Exécution dynamique de la matrice Excel &gt; ORI-1067 - CT-OPT-B-08 [R105]: CA14: Famille associee filtree (racines actives marque uniquement)
</a:t>
            </a:r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Constat technique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Étapes 0/0, assertions 0/0
</a:t>
            </a:r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Règles concernées : </a:t>
            </a:r>
            <a:pPr indent="0" marL="0">
              <a:buNone/>
            </a:pPr>
            <a:r>
              <a:rPr lang="en-US" sz="1000" dirty="0">
                <a:solidFill>
                  <a:srgbClr val="65758B"/>
                </a:solidFill>
              </a:rPr>
              <a:t>—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 : screenshot-annotated.png · Vidéo : journey.mp4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 · BLOQUANT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ORI-1067 — CT-OPT-B-09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CA15+CA18: Annuler creation (rien enregistre) + erreur technique (modale conservee)</a:t>
            </a:r>
            <a:endParaRPr lang="en-US" sz="1200" dirty="0"/>
          </a:p>
        </p:txBody>
      </p:sp>
      <p:pic>
        <p:nvPicPr>
          <p:cNvPr id="6" name="Image 0" descr="/Users/yacinebenhamou/Documents/playwrightOrion/mon-espace/recette-sprints-11-12-13/livrables-opencode/preuves/ORI-1067/CT-OPT-B-09/screenshot-annotat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83080"/>
            <a:ext cx="6766560" cy="38039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98080" y="178308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9520" y="18562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SÉVÉRITÉ : BLOQUANT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98080" y="2423160"/>
            <a:ext cx="411480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Description fonctionnelle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CA15+CA18: Annuler creation (rien enregistre) + erreur technique (modale conservee)
</a:t>
            </a:r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Constat technique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Étape "Cliquer croix de fermeture" : élément cible introuvable sur INT2 (parcours bloqué ici)
</a:t>
            </a:r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Règles concernées : </a:t>
            </a:r>
            <a:pPr indent="0" marL="0">
              <a:buNone/>
            </a:pPr>
            <a:r>
              <a:rPr lang="en-US" sz="1000" dirty="0">
                <a:solidFill>
                  <a:srgbClr val="65758B"/>
                </a:solidFill>
              </a:rPr>
              <a:t>RG_OPT_CREATE_16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 : screenshot-annotated.png · Vidéo : journey.mp4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Détail exhaustif des cas (1-18/252)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Traçabilité par cas : statut, progression, assertions, sévérité.</a:t>
            </a:r>
            <a:endParaRPr lang="en-US" sz="12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2011680"/>
                <a:gridCol w="1463040"/>
                <a:gridCol w="1463040"/>
                <a:gridCol w="19476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Étapes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Assert.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Sévérité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CT-STE-COORD-01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CT-STE-COORD-02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3/7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0B000"/>
                          </a:solidFill>
                        </a:rPr>
                        <a:t>mineur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CT-STE-COORD-03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CT-STE-COORD-04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0B000"/>
                          </a:solidFill>
                        </a:rPr>
                        <a:t>mineur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CT-STE-COORD-05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6/7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CT-STE-COORD-06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CT-STE-COORD-07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CT-STE-COORD-08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5/7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CT-ETAB-01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CT-ETAB-02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3/8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0B000"/>
                          </a:solidFill>
                        </a:rPr>
                        <a:t>mineur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CT-ETAB-03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6/7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CT-ETAB-04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0B000"/>
                          </a:solidFill>
                        </a:rPr>
                        <a:t>mineur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CT-ETAB-05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5/5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moyen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CT-ETAB-06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3/6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CT-ETAB-07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CT-ETAB-08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CT-ETAB-09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CT-HAB-F5-01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 détail des cas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Détail exhaustif des cas (19-36/252)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Traçabilité par cas : statut, progression, assertions, sévérité.</a:t>
            </a:r>
            <a:endParaRPr lang="en-US" sz="12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2011680"/>
                <a:gridCol w="1463040"/>
                <a:gridCol w="1463040"/>
                <a:gridCol w="19476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Étapes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Assert.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Sévérité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CT-HAB-F5-02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CT-HAB-F5-03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CT-HAB-F5-04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CT-HAB-F5-05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CT-HAB-F5-06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CT-HAB-F5-07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CT-HAB-F5-08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CT-HAB-F1-01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CT-HAB-F1-02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CT-HAB-F1-03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CT-HAB-F1-04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CT-HAB-F1-05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CT-HAB-F1-06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CT-HAB-F1-07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CT-HAB-F2-01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CT-HAB-F2-02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CT-HAB-F2-03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CT-HAB-F2-04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 détail des cas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Détail exhaustif des cas (37-54/252)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Traçabilité par cas : statut, progression, assertions, sévérité.</a:t>
            </a:r>
            <a:endParaRPr lang="en-US" sz="12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2011680"/>
                <a:gridCol w="1463040"/>
                <a:gridCol w="1463040"/>
                <a:gridCol w="19476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Étapes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Assert.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Sévérité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CT-HAB-F2-05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CT-HAB-F2-06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CT-HAB-F3-01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CT-HAB-F3-02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CT-HAB-F3-03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CT-HAB-F3-04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CT-HAB-F3-05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CT-HAB-F3-06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CT-HAB-F4-01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CT-HAB-F4-02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CT-HAB-F4-03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CT-HAB-F4-04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CT-HAB-F4-05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CT-HAB-F4-06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CT-HAB-F6-01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CT-HAB-F6-02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CT-HAB-F6-03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CT-HAB-F6-04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 détail des cas</a:t>
            </a:r>
            <a:endParaRPr lang="en-US" sz="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Détail exhaustif des cas (55-72/252)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Traçabilité par cas : statut, progression, assertions, sévérité.</a:t>
            </a:r>
            <a:endParaRPr lang="en-US" sz="12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2011680"/>
                <a:gridCol w="1463040"/>
                <a:gridCol w="1463040"/>
                <a:gridCol w="19476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Étapes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Assert.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Sévérité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CT-HAB-F6-05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CT-HAB-F6-06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CT-HAB-F6-07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CT-HAB-F6-08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CT-HAB-F7-01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CT-HAB-F7-02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CT-HAB-F7-03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CT-HAB-F7-04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CT-HAB-F7-05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CT-HAB-F7-06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CT-HAB-F7-07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CT-HAB-F7-08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CT-PIM-D-01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CT-PIM-D-02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0B000"/>
                          </a:solidFill>
                        </a:rPr>
                        <a:t>mineur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CT-PIM-D-03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CT-PIM-D-04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CT-PIM-D-05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CT-PIM-D-06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 détail des cas</a:t>
            </a:r>
            <a:endParaRPr lang="en-US" sz="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Détail exhaustif des cas (73-90/252)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Traçabilité par cas : statut, progression, assertions, sévérité.</a:t>
            </a:r>
            <a:endParaRPr lang="en-US" sz="12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2011680"/>
                <a:gridCol w="1463040"/>
                <a:gridCol w="1463040"/>
                <a:gridCol w="19476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Étapes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Assert.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Sévérité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CT-PIM-D-07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CT-PIM-D-08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CT-OPT-A-01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CT-OPT-A-02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CT-OPT-A-03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CT-OPT-A-04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CT-OPT-A-05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CT-OPT-A-06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CT-OPT-A-07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CT-OPT-A-08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CT-OPT-B-01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0B000"/>
                          </a:solidFill>
                        </a:rPr>
                        <a:t>mineur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CT-OPT-B-02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0B000"/>
                          </a:solidFill>
                        </a:rPr>
                        <a:t>mineur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CT-OPT-B-03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0B000"/>
                          </a:solidFill>
                        </a:rPr>
                        <a:t>mineur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CT-OPT-B-04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8/8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moyen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CT-OPT-B-05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CT-OPT-B-06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9/9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0B000"/>
                          </a:solidFill>
                        </a:rPr>
                        <a:t>mineur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CT-OPT-B-07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CT-OPT-B-08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 détail des cas</a:t>
            </a:r>
            <a:endParaRPr lang="en-US" sz="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Détail exhaustif des cas (91-108/252)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Traçabilité par cas : statut, progression, assertions, sévérité.</a:t>
            </a:r>
            <a:endParaRPr lang="en-US" sz="12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2011680"/>
                <a:gridCol w="1463040"/>
                <a:gridCol w="1463040"/>
                <a:gridCol w="19476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Étapes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Assert.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Sévérité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CT-OPT-B-09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CT-OPT-B-10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3/5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5/5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moyen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3/6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CT-DURF-01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CT-DURF-02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3/5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CT-DURF-03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CT-DURF-04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 détail des cas</a:t>
            </a:r>
            <a:endParaRPr lang="en-US" sz="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Détail exhaustif des cas (109-126/252)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Traçabilité par cas : statut, progression, assertions, sévérité.</a:t>
            </a:r>
            <a:endParaRPr lang="en-US" sz="12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2011680"/>
                <a:gridCol w="1463040"/>
                <a:gridCol w="1463040"/>
                <a:gridCol w="19476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Étapes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Assert.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Sévérité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CT-DURF-05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CT-DURF-06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CT-DURF-07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CT-DURF-08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CT-DURF-09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CT-DURF-10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CT-DURF-11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CT-DURF-12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CT-NOTIF-01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CT-NOTIF-02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CT-NOTIF-03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CT-NOTIF-04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CT-NOTIF-05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CT-NOTIF-06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CT-NOTIF-07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CT-NOTIF-08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CT-NOTIF-09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CT-NOTIF-10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 détail des cas</a:t>
            </a:r>
            <a:endParaRPr lang="en-US" sz="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Détail exhaustif des cas (127-144/252)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Traçabilité par cas : statut, progression, assertions, sévérité.</a:t>
            </a:r>
            <a:endParaRPr lang="en-US" sz="12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2011680"/>
                <a:gridCol w="1463040"/>
                <a:gridCol w="1463040"/>
                <a:gridCol w="19476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Étapes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Assert.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Sévérité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CT-NOTIF-11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CT-NOTIF-12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CT-NOTIF-13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CT-NOTIF-14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CT-CPT-01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0B000"/>
                          </a:solidFill>
                        </a:rPr>
                        <a:t>mineur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CT-CPT-02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CT-CPT-03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CT-CPT-04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CT-CPT-05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3/4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CT-CPT-06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CT-CPT-07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CT-CPT-08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CT-CPT-09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CT-CPT-10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CT-CPT-11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CT-CPT-12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CT-CPT-13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 détail des cas</a:t>
            </a:r>
            <a:endParaRPr lang="en-US" sz="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Détail exhaustif des cas (145-162/252)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Traçabilité par cas : statut, progression, assertions, sévérité.</a:t>
            </a:r>
            <a:endParaRPr lang="en-US" sz="12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2011680"/>
                <a:gridCol w="1463040"/>
                <a:gridCol w="1463040"/>
                <a:gridCol w="19476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Étapes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Assert.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Sévérité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CT-VIS-01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0B000"/>
                          </a:solidFill>
                        </a:rPr>
                        <a:t>mineur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CT-VIS-02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3/4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CT-VIS-03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 détail des cas</a:t>
            </a:r>
            <a:endParaRPr lang="en-US" sz="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Détail exhaustif des cas (163-180/252)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Traçabilité par cas : statut, progression, assertions, sévérité.</a:t>
            </a:r>
            <a:endParaRPr lang="en-US" sz="12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2011680"/>
                <a:gridCol w="1463040"/>
                <a:gridCol w="1463040"/>
                <a:gridCol w="19476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Étapes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Assert.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Sévérité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CT-VIS-04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CT-VIS-05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CT-VIS-06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CT-VIS-07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CT-VIS-08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CT-UX-01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CT-UX-02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CT-UX-03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CT-UX-04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passed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CT-UX-05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CT-UX-06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3/5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CT-UX-07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CT-UX-08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CT-LOC-01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CT-LOC-02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CT-LOC-03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CT-LOC-04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CT-LOC-05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 détail des cas</a:t>
            </a:r>
            <a:endParaRPr lang="en-US" sz="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Détail exhaustif des cas (181-198/252)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Traçabilité par cas : statut, progression, assertions, sévérité.</a:t>
            </a:r>
            <a:endParaRPr lang="en-US" sz="12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2011680"/>
                <a:gridCol w="1463040"/>
                <a:gridCol w="1463040"/>
                <a:gridCol w="19476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Étapes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Assert.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Sévérité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CT-LOC-06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CT-LOC-07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ORI-368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CT-BSN-01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ORI-368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CT-BSN-02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moyen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ORI-368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CT-BSN-03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ORI-368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CT-BSN-04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ORI-368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CT-BSN-05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3/3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moyen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ORI-368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CT-BSN-06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ORI-368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CT-BSN-07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ORI-368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CT-BSN-08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CT-FILT-01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3/4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CT-FILT-02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CT-FILT-03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CT-FILT-04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CT-FILT-05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CT-FILT-06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CT-ABD-01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CT-ABD-02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0B000"/>
                          </a:solidFill>
                        </a:rPr>
                        <a:t>mineur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 détail des cas</a:t>
            </a:r>
            <a:endParaRPr lang="en-US" sz="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Détail exhaustif des cas (199-216/252)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Traçabilité par cas : statut, progression, assertions, sévérité.</a:t>
            </a:r>
            <a:endParaRPr lang="en-US" sz="12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2011680"/>
                <a:gridCol w="1463040"/>
                <a:gridCol w="1463040"/>
                <a:gridCol w="19476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Étapes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Assert.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Sévérité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CT-ABD-03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3/5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CT-ABD-04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CT-ABD-05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CT-ABD-06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0B000"/>
                          </a:solidFill>
                        </a:rPr>
                        <a:t>mineur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CT-RND-01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CT-RND-02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CT-RND-03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CT-RND-04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3/5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CT-RND-05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CT-RND-06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0B000"/>
                          </a:solidFill>
                        </a:rPr>
                        <a:t>mineur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CT-RND-07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CT-RND-08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CT-RND-09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ORI-452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ORI-452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ORI-452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ORI-452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ORI-452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 détail des cas</a:t>
            </a:r>
            <a:endParaRPr lang="en-US" sz="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Détail exhaustif des cas (217-234/252)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Traçabilité par cas : statut, progression, assertions, sévérité.</a:t>
            </a:r>
            <a:endParaRPr lang="en-US" sz="12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2011680"/>
                <a:gridCol w="1463040"/>
                <a:gridCol w="1463040"/>
                <a:gridCol w="19476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Étapes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Assert.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Sévérité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ORI-452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ORI-688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CT-PTG-01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ORI-688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CT-PTG-02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ORI-688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CT-PTG-03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ORI-688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CT-PTG-04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ORI-688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CT-PTG-05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passed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ORI-688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CT-PTG-06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CT-DIS-01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CT-DIS-02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CT-DIS-03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CT-DIS-04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CT-DIS-05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CT-DIS-06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CT-DIS-07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CT-ERR-01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CT-ERR-02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CT-ERR-03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CT-ERR-04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 détail des cas</a:t>
            </a:r>
            <a:endParaRPr lang="en-US" sz="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Détail exhaustif des cas (235-252/252)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Traçabilité par cas : statut, progression, assertions, sévérité.</a:t>
            </a:r>
            <a:endParaRPr lang="en-US" sz="12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2011680"/>
                <a:gridCol w="1463040"/>
                <a:gridCol w="1463040"/>
                <a:gridCol w="19476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Étapes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Assert.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Sévérité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CT-ERR-05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CT-ERR-06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CT-ERR-07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CT-ERR-01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CT-ERR-02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CT-ERR-03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CT-ERR-04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CT-ERR-05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CT-ERR-06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CT-ERR-07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CT-AF-01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CT-AF-02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CT-AF-03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CT-AF-04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5/5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0B000"/>
                          </a:solidFill>
                        </a:rPr>
                        <a:t>mineur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CT-AF-05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CT-AF-06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0B000"/>
                          </a:solidFill>
                        </a:rPr>
                        <a:t>mineur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CT-AF-07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CT-AF-08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0B000"/>
                          </a:solidFill>
                        </a:rPr>
                        <a:t>mineur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 détail des cas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</vt:vector>
  </TitlesOfParts>
  <Company>Atos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Bilan de recette Orion - Sprints 11 12 13</dc:title>
  <dc:subject>PptxGenJS Presentation</dc:subject>
  <dc:creator>Orion Playwright Pipeline</dc:creator>
  <cp:lastModifiedBy>Orion Playwright Pipeline</cp:lastModifiedBy>
  <cp:revision>1</cp:revision>
  <dcterms:created xsi:type="dcterms:W3CDTF">2026-07-30T11:22:46Z</dcterms:created>
  <dcterms:modified xsi:type="dcterms:W3CDTF">2026-07-30T11:22:46Z</dcterms:modified>
</cp:coreProperties>
</file>