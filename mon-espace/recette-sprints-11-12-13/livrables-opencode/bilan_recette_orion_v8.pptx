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31520"/>
            <a:ext cx="109728" cy="4937760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05840" y="10058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8DE1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ATOS · ORION · RECETTE ASSISTEE PAR IA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05840" y="1554480"/>
            <a:ext cx="10058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Bilan de recette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Sprints 11, 12 et 13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005840" y="34290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8D8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INT2 · 252 cas de test · 29 tickets ORI · 206 règles RG · preuves vidéo MP4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05840" y="52120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2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Généré le 05/08/2026 14:47:03 · Exécution Playwright headed, données réelles par ticket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653796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Bilan de recette Orion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SYNTHÈSE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Résultats consolidés de l'exécution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Fusion des 3 rapports : Playwright (exécution) · Xray (références) · Hybride (concordance Excel).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2148840" cy="1051560"/>
          </a:xfrm>
          <a:prstGeom prst="roundRect">
            <a:avLst>
              <a:gd name="adj" fmla="val 695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938528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46BC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252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40080" y="248716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 exécutés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788920" y="1828800"/>
            <a:ext cx="2148840" cy="1051560"/>
          </a:xfrm>
          <a:prstGeom prst="roundRect">
            <a:avLst>
              <a:gd name="adj" fmla="val 695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80360" y="1938528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E9D6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880360" y="248716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Passés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029200" y="1828800"/>
            <a:ext cx="2148840" cy="1051560"/>
          </a:xfrm>
          <a:prstGeom prst="roundRect">
            <a:avLst>
              <a:gd name="adj" fmla="val 695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20640" y="1938528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29F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196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5120640" y="248716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Bloqués flux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269480" y="1828800"/>
            <a:ext cx="2148840" cy="1051560"/>
          </a:xfrm>
          <a:prstGeom prst="roundRect">
            <a:avLst>
              <a:gd name="adj" fmla="val 695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60920" y="1938528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575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49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7360920" y="248716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Bloqués données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9509760" y="1828800"/>
            <a:ext cx="2148840" cy="1051560"/>
          </a:xfrm>
          <a:prstGeom prst="roundRect">
            <a:avLst>
              <a:gd name="adj" fmla="val 695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01200" y="1938528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953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9601200" y="248716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Bugs détectés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48640" y="32918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Répartition des bugs par sévérité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48640" y="3703320"/>
            <a:ext cx="2148840" cy="1051560"/>
          </a:xfrm>
          <a:prstGeom prst="roundRect">
            <a:avLst>
              <a:gd name="adj" fmla="val 695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3813048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953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640080" y="436168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Bloquants (rouge)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788920" y="3703320"/>
            <a:ext cx="2148840" cy="1051560"/>
          </a:xfrm>
          <a:prstGeom prst="roundRect">
            <a:avLst>
              <a:gd name="adj" fmla="val 695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880360" y="3813048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29F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2880360" y="436168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Moyens (orange)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029200" y="3703320"/>
            <a:ext cx="2148840" cy="1051560"/>
          </a:xfrm>
          <a:prstGeom prst="roundRect">
            <a:avLst>
              <a:gd name="adj" fmla="val 695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20640" y="3813048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0B0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5120640" y="436168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Mineurs (jaune)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7406640" y="3703320"/>
            <a:ext cx="4206240" cy="1051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Chaque cas dispose d'une vidéo MP4 du parcours réel et d'une capture. Les bugs sont annotés visuellement (cercle/cadre coloré) sur l'IHM.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48640" y="653796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TE-LOCAL-INT2-SPRINT-11-12-13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COUVERTURE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Couverture par module (MP)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Données réelles issues de l'exécution headed sur INT2.</a:t>
            </a:r>
            <a:endParaRPr lang="en-US" sz="1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371600"/>
                <a:gridCol w="1645920"/>
                <a:gridCol w="2011680"/>
                <a:gridCol w="2194560"/>
                <a:gridCol w="1490472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Module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Passés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Bloqués flux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Bloqués données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Bugs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MP1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MP2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MP3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75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75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MP4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44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MP5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32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MP6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SP1.5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49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49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653796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Couverture par module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TICKETS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Synthèse par ticket ORI (1-15/29)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Concordance Excel ↔ Jira ↔ exécution.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5852160"/>
                <a:gridCol w="914400"/>
                <a:gridCol w="1005840"/>
                <a:gridCol w="1005840"/>
                <a:gridCol w="1033272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ORI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Résumé Jira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Passés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Bloqués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Bugs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ORI-368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E4.2.B Vue Agence &gt; Besoins - Description du tableau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ORI-452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E5.2.2.A1 Générer des notifications sur la durée de 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ORI-657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E2.1.2.D Mettre à jour une famille de produits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ORI-667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E4.2.B Vue Agence &gt; Besoins - Zones de filtres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ORI-688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E5.2.1 Afficher l'état des pointages d'une intervent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E3.2.1 Créer un contrat intervenant - Durée du trava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E5.2.1.D6 Vérifier la disponibilité de l'intervenant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ORI-745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SP4.1 Adaptation UX des icônes, tags et multi-élémen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E5.2.1.D6 Notifier les erreurs (création/modificatio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ORI-769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E4.1.1.E2 RDV commerciaux : afficher la localisation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[STE] E1.1.1 Modifier les données Légales - Coordonn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ORI-783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[ETAB] E1.1.1 Modifier les Aspects Juridiques d'un 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ORI-790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E6.1.3.A3 Ecran Activités Financées - Détails après 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ORI-871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SP1.5 E1.5.4 F5 - Détail d'un profil - Modification 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653796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Synthèse par ticket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TICKETS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Synthèse par ticket ORI (16-29/29)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Concordance Excel ↔ Jira ↔ exécution.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5852160"/>
                <a:gridCol w="914400"/>
                <a:gridCol w="1005840"/>
                <a:gridCol w="1005840"/>
                <a:gridCol w="1033272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ORI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Résumé Jira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Passés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Bloqués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Bugs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ORI-872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SP1.5 E1.5.4 F1 - Détail d'un profil - Bloc entête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ORI-873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SP1.5 E1.5.4 F2 - Détail d'un profil - Liste des cas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SP1.5 E1.5.4 F3 - Détail d'un profil - Droits fins 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SP1.5 E1.5.4 F4 - Détail d'un profil - Droits spécia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E3.4.1 GTA front - Compteurs CP : écran principal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13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E3.4.1 GTA - Autres absences : gestion des heures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16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ORI-995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E4.2.B2 Vue Agence &gt; Besoins - Abandonner un besoin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SP1.5 E1.5.4 F6 - Détail d'un profil - Mise en place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E3.2.1 Créer un contrat intervenant - Durée du trava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ORI-1065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E2.1.4.A Consulter la liste des options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ORI-1067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E2.1.4.B Créer une option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E4.2.B1 Qualifier un besoin - Renderer formulaire dy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ORI-1308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SP1.5 E1.5.4 F7 - Détail d'un profil - Enregistremen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ORI-1356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E3.4.1 GTA - Autres absences : visualiser une absenc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653796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Synthèse par ticket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BUG · BLOQUANT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ORI-91 — CT-NOTIF-02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RG_NOTIFCREA_02 - Non-emission si un champ obligatoire manque</a:t>
            </a:r>
            <a:endParaRPr lang="en-US" sz="1200" dirty="0"/>
          </a:p>
        </p:txBody>
      </p:sp>
      <p:pic>
        <p:nvPicPr>
          <p:cNvPr id="6" name="Image 0" descr="/Users/yacinebenhamou/Documents/playwrightOrion/mon-espace/recette-sprints-11-12-13/livrables-opencode/preuves/ORI-91/CT-NOTIF-02/screenshot-annotat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783080"/>
            <a:ext cx="6766560" cy="380390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498080" y="1783080"/>
            <a:ext cx="4114800" cy="457200"/>
          </a:xfrm>
          <a:prstGeom prst="roundRect">
            <a:avLst>
              <a:gd name="adj" fmla="val 12000"/>
            </a:avLst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589520" y="1856232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SÉVÉRITÉ : BLOQUANT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498080" y="2423160"/>
            <a:ext cx="4114800" cy="3200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7324D"/>
                </a:solidFill>
              </a:rPr>
              <a:t>Description fonctionnelle
</a:t>
            </a:r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RG_NOTIFCREA_02 - Non-emission si un champ obligatoire manque
</a:t>
            </a:r>
            <a:pPr indent="0" marL="0">
              <a:buNone/>
            </a:pPr>
            <a:r>
              <a:rPr lang="en-US" sz="1200" b="1" dirty="0">
                <a:solidFill>
                  <a:srgbClr val="17324D"/>
                </a:solidFill>
              </a:rPr>
              <a:t>Constat technique
</a:t>
            </a:r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Étape "Creer un intervenant sans NIR" : élément cible introuvable sur INT2 (parcours bloqué ici)
</a:t>
            </a:r>
            <a:pPr indent="0" marL="0">
              <a:buNone/>
            </a:pPr>
            <a:r>
              <a:rPr lang="en-US" sz="1100" b="1" dirty="0">
                <a:solidFill>
                  <a:srgbClr val="17324D"/>
                </a:solidFill>
              </a:rPr>
              <a:t>Règles concernées : </a:t>
            </a:r>
            <a:pPr indent="0" marL="0">
              <a:buNone/>
            </a:pPr>
            <a:r>
              <a:rPr lang="en-US" sz="1000" dirty="0">
                <a:solidFill>
                  <a:srgbClr val="65758B"/>
                </a:solidFill>
              </a:rPr>
              <a:t>RG_NOTIFCREA_02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48640" y="653796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Preuve : screenshot-annotated.png · Vidéo : journey.mp4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ANNEXE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Détail exhaustif des cas (1-18/252)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Traçabilité par cas : statut, progression, assertions, sévérité.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926080"/>
                <a:gridCol w="2011680"/>
                <a:gridCol w="1463040"/>
                <a:gridCol w="1463040"/>
                <a:gridCol w="1947672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ORI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Statut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Étapes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Assert.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Sévérité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CT-STE-COORD-01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CT-STE-COORD-02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3/7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CT-STE-COORD-03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CT-STE-COORD-04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CT-STE-COORD-05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6/7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CT-STE-COORD-06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4/5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CT-STE-COORD-07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2/6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CT-STE-COORD-08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5/7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ORI-783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CT-ETAB-01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ORI-783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CT-ETAB-02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3/8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ORI-783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CT-ETAB-03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6/7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ORI-783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CT-ETAB-04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ORI-783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CT-ETAB-05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assertion-low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5/5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ORI-783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CT-ETAB-06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3/6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ORI-783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CT-ETAB-07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4/5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2/3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ORI-783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CT-ETAB-08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4/7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ORI-783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CT-ETAB-09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4/6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ORI-871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CT-HAB-F5-01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653796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Annexe détail des cas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ANNEXE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Détail exhaustif des cas (19-36/252)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Traçabilité par cas : statut, progression, assertions, sévérité.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926080"/>
                <a:gridCol w="2011680"/>
                <a:gridCol w="1463040"/>
                <a:gridCol w="1463040"/>
                <a:gridCol w="1947672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ORI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Statut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Étapes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Assert.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Sévérité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ORI-871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CT-HAB-F5-02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ORI-871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CT-HAB-F5-03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ORI-871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CT-HAB-F5-04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ORI-871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CT-HAB-F5-05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ORI-871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CT-HAB-F5-06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ORI-871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CT-HAB-F5-07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ORI-871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CT-HAB-F5-08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ORI-872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CT-HAB-F1-01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ORI-872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CT-HAB-F1-02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ORI-872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CT-HAB-F1-03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ORI-872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CT-HAB-F1-04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ORI-872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CT-HAB-F1-05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ORI-872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CT-HAB-F1-06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ORI-872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CT-HAB-F1-07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ORI-873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CT-HAB-F2-01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ORI-873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CT-HAB-F2-02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ORI-873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CT-HAB-F2-03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ORI-873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CT-HAB-F2-04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653796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Annexe détail des cas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ANNEXE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Détail exhaustif des cas (37-54/252)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Traçabilité par cas : statut, progression, assertions, sévérité.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926080"/>
                <a:gridCol w="2011680"/>
                <a:gridCol w="1463040"/>
                <a:gridCol w="1463040"/>
                <a:gridCol w="1947672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ORI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Statut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Étapes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Assert.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Sévérité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ORI-873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CT-HAB-F2-05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ORI-873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CT-HAB-F2-06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CT-HAB-F3-01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CT-HAB-F3-02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CT-HAB-F3-03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CT-HAB-F3-04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CT-HAB-F3-05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CT-HAB-F3-06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CT-HAB-F4-01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CT-HAB-F4-02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CT-HAB-F4-03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CT-HAB-F4-04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CT-HAB-F4-05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CT-HAB-F4-06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CT-HAB-F6-01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CT-HAB-F6-02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CT-HAB-F6-03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CT-HAB-F6-04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653796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Annexe détail des cas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ANNEXE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Détail exhaustif des cas (55-72/252)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Traçabilité par cas : statut, progression, assertions, sévérité.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926080"/>
                <a:gridCol w="2011680"/>
                <a:gridCol w="1463040"/>
                <a:gridCol w="1463040"/>
                <a:gridCol w="1947672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ORI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Statut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Étapes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Assert.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Sévérité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CT-HAB-F6-05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CT-HAB-F6-06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CT-HAB-F6-07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CT-HAB-F6-08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ORI-1308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CT-HAB-F7-01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ORI-1308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CT-HAB-F7-02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ORI-1308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CT-HAB-F7-03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ORI-1308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CT-HAB-F7-04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ORI-1308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CT-HAB-F7-05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ORI-1308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CT-HAB-F7-06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ORI-1308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CT-HAB-F7-07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ORI-1308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CT-HAB-F7-08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ORI-657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CT-PIM-D-01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2/8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ORI-657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CT-PIM-D-02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2/6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ORI-657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CT-PIM-D-03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4/10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ORI-657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CT-PIM-D-04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ORI-657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CT-PIM-D-05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5/9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ORI-657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CT-PIM-D-06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2/7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653796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Annexe détail des cas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ANNEXE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Détail exhaustif des cas (73-90/252)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Traçabilité par cas : statut, progression, assertions, sévérité.</a:t>
            </a:r>
            <a:endParaRPr lang="en-US" sz="1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926080"/>
                <a:gridCol w="2011680"/>
                <a:gridCol w="1463040"/>
                <a:gridCol w="1463040"/>
                <a:gridCol w="1947672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ORI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Statut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Étapes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Assert.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Sévérité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ORI-657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CT-PIM-D-07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ORI-657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CT-PIM-D-08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6/10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4/9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ORI-1065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CT-OPT-A-01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5/9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ORI-1065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CT-OPT-A-02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passed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8/8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ORI-1065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CT-OPT-A-03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7/8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2/7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ORI-1065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CT-OPT-A-04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assertion-low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3/3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ORI-1065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CT-OPT-A-05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2/4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ORI-1065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CT-OPT-A-06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ORI-1065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CT-OPT-A-07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2/6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ORI-1065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CT-OPT-A-08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ORI-1067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CT-OPT-B-01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2/8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ORI-1067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CT-OPT-B-02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4/9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ORI-1067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CT-OPT-B-03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2/7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ORI-1067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CT-OPT-B-04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assertion-low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8/8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ORI-1067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CT-OPT-B-05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assertion-low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10/10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ORI-1067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CT-OPT-B-06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assertion-low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9/9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ORI-1067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CT-OPT-B-07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7/8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ORI-1067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CT-OPT-B-08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3/5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653796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Annexe détail des cas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ANNEXE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Détail exhaustif des cas (91-108/252)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Traçabilité par cas : statut, progression, assertions, sévérité.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926080"/>
                <a:gridCol w="2011680"/>
                <a:gridCol w="1463040"/>
                <a:gridCol w="1463040"/>
                <a:gridCol w="1947672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ORI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Statut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Étapes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Assert.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Sévérité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ORI-1067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CT-OPT-B-09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ORI-1067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CT-OPT-B-10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CT-DUR-01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CT-DUR-02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4/5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CT-DUR-03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4/6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CT-DUR-04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3/5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CT-DUR-05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4/6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CT-DUR-06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assertion-low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5/5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CT-DUR-07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3/6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CT-DUR-08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2/5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CT-DUR-09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2/4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CT-DUR-10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CT-DUR-11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CT-DUR-12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CT-DURF-01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assertion-low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5/5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CT-DURF-02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3/5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CT-DURF-03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CT-DURF-04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3/4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653796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Annexe détail des cas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ANNEXE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Détail exhaustif des cas (109-126/252)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Traçabilité par cas : statut, progression, assertions, sévérité.</a:t>
            </a:r>
            <a:endParaRPr lang="en-US" sz="1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926080"/>
                <a:gridCol w="2011680"/>
                <a:gridCol w="1463040"/>
                <a:gridCol w="1463040"/>
                <a:gridCol w="1947672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ORI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Statut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Étapes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Assert.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Sévérité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CT-DURF-05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4/5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CT-DURF-06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assertion-low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5/5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CT-DURF-07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2/5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CT-DURF-08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2/5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CT-DURF-09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2/4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CT-DURF-10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2/4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CT-DURF-11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CT-DURF-12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CT-NOTIF-01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CT-NOTIF-02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CT-NOTIF-03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CT-NOTIF-04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CT-NOTIF-05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CT-NOTIF-06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CT-NOTIF-07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CT-NOTIF-08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CT-NOTIF-09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CT-NOTIF-10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653796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Annexe détail des cas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ANNEXE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Détail exhaustif des cas (127-144/252)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Traçabilité par cas : statut, progression, assertions, sévérité.</a:t>
            </a:r>
            <a:endParaRPr lang="en-US" sz="1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926080"/>
                <a:gridCol w="2011680"/>
                <a:gridCol w="1463040"/>
                <a:gridCol w="1463040"/>
                <a:gridCol w="1947672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ORI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Statut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Étapes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Assert.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Sévérité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CT-NOTIF-11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CT-NOTIF-12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CT-NOTIF-13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CT-NOTIF-14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CT-CPT-01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assertion-low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4/4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CT-CPT-02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4/5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CT-CPT-03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CT-CPT-04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assertion-low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5/5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CT-CPT-05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3/4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CT-CPT-06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CT-CPT-07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CT-CPT-08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CT-CPT-09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CT-CPT-10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CT-CPT-11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2/4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CT-CPT-12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CT-CPT-13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CT-ABH-01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assertion-low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4/4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653796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Annexe détail des cas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ANNEXE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Détail exhaustif des cas (145-162/252)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Traçabilité par cas : statut, progression, assertions, sévérité.</a:t>
            </a:r>
            <a:endParaRPr lang="en-US" sz="12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926080"/>
                <a:gridCol w="2011680"/>
                <a:gridCol w="1463040"/>
                <a:gridCol w="1463040"/>
                <a:gridCol w="1947672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ORI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Statut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Étapes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Assert.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Sévérité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CT-ABH-02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2/4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CT-ABH-03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2/4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CT-ABH-04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2/4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CT-ABH-05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2/4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CT-ABH-06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CT-ABH-07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CT-ABH-08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2/5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CT-ABH-09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CT-ABH-10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CT-ABH-11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2/5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CT-ABH-12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2/3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CT-ABH-13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assertion-low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5/5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CT-ABH-14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2/3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CT-ABH-15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3/4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CT-ABH-16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2/5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ORI-1356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CT-VIS-01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assertion-low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4/4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ORI-1356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CT-VIS-02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3/4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ORI-1356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CT-VIS-03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653796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Annexe détail des cas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ANNEXE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Détail exhaustif des cas (163-180/252)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Traçabilité par cas : statut, progression, assertions, sévérité.</a:t>
            </a:r>
            <a:endParaRPr lang="en-US" sz="12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926080"/>
                <a:gridCol w="2011680"/>
                <a:gridCol w="1463040"/>
                <a:gridCol w="1463040"/>
                <a:gridCol w="1947672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ORI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Statut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Étapes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Assert.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Sévérité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ORI-1356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CT-VIS-04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ORI-1356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CT-VIS-05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ORI-1356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CT-VIS-06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assertion-low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5/5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ORI-1356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CT-VIS-07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assertion-low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4/4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ORI-1356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CT-VIS-08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ORI-745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CT-UX-01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assertion-low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5/5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ORI-745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CT-UX-02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assertion-low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4/4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ORI-745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CT-UX-03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passed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4/4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2/2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ORI-745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CT-UX-04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passed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4/4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2/2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ORI-745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CT-UX-05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assertion-low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4/4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ORI-745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CT-UX-06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3/5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ORI-745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CT-UX-07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ORI-745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CT-UX-08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ORI-769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CT-LOC-01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passed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4/4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ORI-769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CT-LOC-02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assertion-low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2/2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ORI-769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CT-LOC-03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assertion-low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4/4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ORI-769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CT-LOC-04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ORI-769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CT-LOC-05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assertion-low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2/2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653796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Annexe détail des cas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ANNEXE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Détail exhaustif des cas (181-198/252)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Traçabilité par cas : statut, progression, assertions, sévérité.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926080"/>
                <a:gridCol w="2011680"/>
                <a:gridCol w="1463040"/>
                <a:gridCol w="1463040"/>
                <a:gridCol w="1947672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ORI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Statut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Étapes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Assert.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Sévérité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ORI-769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CT-LOC-06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ORI-769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CT-LOC-07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assertion-low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4/4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ORI-368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CT-BSN-01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assertion-low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4/4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ORI-368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CT-BSN-02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passed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4/4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ORI-368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CT-BSN-03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ORI-368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CT-BSN-04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ORI-368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CT-BSN-05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assertion-low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3/3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ORI-368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CT-BSN-06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ORI-368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CT-BSN-07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assertion-low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3/3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ORI-368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CT-BSN-08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passed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5/5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ORI-667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CT-FILT-01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3/4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ORI-667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CT-FILT-02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ORI-667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CT-FILT-03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2/3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ORI-667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CT-FILT-04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2/2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ORI-667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CT-FILT-05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2/4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2/2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ORI-667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CT-FILT-06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2/4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ORI-995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CT-ABD-01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ORI-995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CT-ABD-02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2/4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653796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Annexe détail des cas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ANNEXE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Détail exhaustif des cas (199-216/252)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Traçabilité par cas : statut, progression, assertions, sévérité.</a:t>
            </a:r>
            <a:endParaRPr lang="en-US" sz="12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926080"/>
                <a:gridCol w="2011680"/>
                <a:gridCol w="1463040"/>
                <a:gridCol w="1463040"/>
                <a:gridCol w="1947672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ORI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Statut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Étapes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Assert.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Sévérité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ORI-995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CT-ABD-03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3/5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ORI-995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CT-ABD-04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2/3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ORI-995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CT-ABD-05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2/4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ORI-995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CT-ABD-06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assertion-low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4/4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CT-RND-01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CT-RND-02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assertion-low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4/4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CT-RND-03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CT-RND-04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3/5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CT-RND-05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CT-RND-06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CT-RND-07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CT-RND-08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CT-RND-09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ORI-452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CT-DUR-01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ORI-452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CT-DUR-02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ORI-452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CT-DUR-03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ORI-452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CT-DUR-04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ORI-452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CT-DUR-05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653796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Annexe détail des cas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ANNEXE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Détail exhaustif des cas (217-234/252)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Traçabilité par cas : statut, progression, assertions, sévérité.</a:t>
            </a:r>
            <a:endParaRPr lang="en-US" sz="12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926080"/>
                <a:gridCol w="2011680"/>
                <a:gridCol w="1463040"/>
                <a:gridCol w="1463040"/>
                <a:gridCol w="1947672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ORI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Statut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Étapes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Assert.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Sévérité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ORI-452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CT-DUR-06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2/4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ORI-688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CT-PTG-01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assertion-low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3/3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ORI-688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CT-PTG-02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assertion-low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4/4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ORI-688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CT-PTG-03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ORI-688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CT-PTG-04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ORI-688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CT-PTG-05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passed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4/4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ORI-688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CT-PTG-06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CT-DIS-01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CT-DIS-02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CT-DIS-03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CT-DIS-04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CT-DIS-05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CT-DIS-06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CT-DIS-07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CT-ERR-01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CT-ERR-02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CT-ERR-03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CT-ERR-04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653796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Annexe détail des cas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ANNEXE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Détail exhaustif des cas (235-252/252)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Traçabilité par cas : statut, progression, assertions, sévérité.</a:t>
            </a:r>
            <a:endParaRPr lang="en-US" sz="12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926080"/>
                <a:gridCol w="2011680"/>
                <a:gridCol w="1463040"/>
                <a:gridCol w="1463040"/>
                <a:gridCol w="1947672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ORI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Statut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Étapes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Assert.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Sévérité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CT-ERR-05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CT-ERR-06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2/4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CT-ERR-07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CT-ERR-01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CT-ERR-02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CT-ERR-03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CT-ERR-04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CT-ERR-05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CT-ERR-06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2/4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CT-ERR-07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ORI-790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CT-AF-01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ORI-790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CT-AF-02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ORI-790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CT-AF-03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assertion-low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4/4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ORI-790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CT-AF-04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assertion-low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5/5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ORI-790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CT-AF-05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2/4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ORI-790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CT-AF-06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ORI-790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CT-AF-07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ORI-790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CT-AF-08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assertion-low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4/4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653796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Annexe détail des cas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Atos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Bilan de recette Orion - Sprints 11 12 13</dc:title>
  <dc:subject>PptxGenJS Presentation</dc:subject>
  <dc:creator>Orion Playwright Pipeline</dc:creator>
  <cp:lastModifiedBy>Orion Playwright Pipeline</cp:lastModifiedBy>
  <cp:revision>1</cp:revision>
  <dcterms:created xsi:type="dcterms:W3CDTF">2026-08-05T12:47:03Z</dcterms:created>
  <dcterms:modified xsi:type="dcterms:W3CDTF">2026-08-05T12:47:03Z</dcterms:modified>
</cp:coreProperties>
</file>